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CONTAINER RUNTIME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27432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00B4D8"/>
                </a:solidFill>
                <a:latin typeface="Segoe UI"/>
              </a:defRPr>
            </a:pPr>
            <a:r>
              <a:t>Real-Time Detection of Container Escape Attacks Using eBPF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Segoe UI"/>
              </a:defRPr>
            </a:pPr>
            <a:r>
              <a:t>An eBPF-Based Kernel Tracing Approach to Monitor and Alert on Five Distinct Container Escape Techniques in Docker Environments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846320"/>
            <a:ext cx="1572767" cy="36576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200">
                <a:solidFill>
                  <a:srgbClr val="00B4D8"/>
                </a:solidFill>
                <a:latin typeface="Consolas"/>
              </a:rPr>
              <a:t>eBPF/libbpf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24327" y="4846320"/>
            <a:ext cx="2779775" cy="36576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200">
                <a:solidFill>
                  <a:srgbClr val="00B4D8"/>
                </a:solidFill>
                <a:latin typeface="Consolas"/>
              </a:rPr>
              <a:t>C (Kernel + Userspace)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1262" y="4846320"/>
            <a:ext cx="1024128" cy="36576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200">
                <a:solidFill>
                  <a:srgbClr val="00B4D8"/>
                </a:solidFill>
                <a:latin typeface="Consolas"/>
              </a:rPr>
              <a:t>Docker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2550" y="4846320"/>
            <a:ext cx="2121408" cy="36576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200">
                <a:solidFill>
                  <a:srgbClr val="00B4D8"/>
                </a:solidFill>
                <a:latin typeface="Consolas"/>
              </a:rPr>
              <a:t>Linux Kernel 6.x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18" y="4846320"/>
            <a:ext cx="914400" cy="36576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200">
                <a:solidFill>
                  <a:srgbClr val="00B4D8"/>
                </a:solidFill>
                <a:latin typeface="Consolas"/>
              </a:rPr>
              <a:t>CO-RE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909C"/>
                </a:solidFill>
                <a:latin typeface="Segoe UI"/>
              </a:defRPr>
            </a:pPr>
            <a:r>
              <a:t>Course: CS 6130  |  Platform: Ubuntu 24.04 / aarch64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Segoe U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FF4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PROBLEM STATEMENT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FF4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475488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FF4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76B"/>
                </a:solidFill>
                <a:latin typeface="Segoe UI"/>
              </a:defRPr>
            </a:pPr>
            <a:r>
              <a:t>⚠ 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>
                <a:solidFill>
                  <a:srgbClr val="FF476B"/>
                </a:solidFill>
                <a:latin typeface="Segoe UI"/>
              </a:rPr>
              <a:t>◆  </a:t>
            </a:r>
            <a:r>
              <a:rPr sz="1400">
                <a:solidFill>
                  <a:srgbClr val="B0BEC5"/>
                </a:solidFill>
                <a:latin typeface="Segoe UI"/>
              </a:rPr>
              <a:t>Containers share the host kernel — a single
vulnerability can compromise the entire host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>
                <a:solidFill>
                  <a:srgbClr val="FF476B"/>
                </a:solidFill>
                <a:latin typeface="Segoe UI"/>
              </a:rPr>
              <a:t>◆  </a:t>
            </a:r>
            <a:r>
              <a:rPr sz="1400">
                <a:solidFill>
                  <a:srgbClr val="B0BEC5"/>
                </a:solidFill>
                <a:latin typeface="Segoe UI"/>
              </a:rPr>
              <a:t>Docker misconfigurations (--privileged, socket
mounts) create direct escape paths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>
                <a:solidFill>
                  <a:srgbClr val="FF476B"/>
                </a:solidFill>
                <a:latin typeface="Segoe UI"/>
              </a:rPr>
              <a:t>◆  </a:t>
            </a:r>
            <a:r>
              <a:rPr sz="1400">
                <a:solidFill>
                  <a:srgbClr val="B0BEC5"/>
                </a:solidFill>
                <a:latin typeface="Segoe UI"/>
              </a:rPr>
              <a:t>CVEs like CVE-2022-0492 allow cgroup-based
host code execution from inside containers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>
                <a:solidFill>
                  <a:srgbClr val="FF476B"/>
                </a:solidFill>
                <a:latin typeface="Segoe UI"/>
              </a:rPr>
              <a:t>◆  </a:t>
            </a:r>
            <a:r>
              <a:rPr sz="1400">
                <a:solidFill>
                  <a:srgbClr val="B0BEC5"/>
                </a:solidFill>
                <a:latin typeface="Segoe UI"/>
              </a:rPr>
              <a:t>Traditional security tools operate at user-space
level and miss kernel-level escape attempts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>
                <a:solidFill>
                  <a:srgbClr val="FF476B"/>
                </a:solidFill>
                <a:latin typeface="Segoe UI"/>
              </a:rPr>
              <a:t>◆  </a:t>
            </a:r>
            <a:r>
              <a:rPr sz="1400">
                <a:solidFill>
                  <a:srgbClr val="B0BEC5"/>
                </a:solidFill>
                <a:latin typeface="Segoe UI"/>
              </a:rPr>
              <a:t>Short-lived container processes exit before
log-based detectors can even inspect them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5D4"/>
                </a:solidFill>
                <a:latin typeface="Segoe UI"/>
              </a:defRPr>
            </a:pPr>
            <a:r>
              <a:t>✓  Our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>
                <a:solidFill>
                  <a:srgbClr val="00F5D4"/>
                </a:solidFill>
                <a:latin typeface="Segoe UI"/>
              </a:rPr>
              <a:t>◆  </a:t>
            </a:r>
            <a:r>
              <a:rPr sz="1400">
                <a:solidFill>
                  <a:srgbClr val="B0BEC5"/>
                </a:solidFill>
                <a:latin typeface="Segoe UI"/>
              </a:rPr>
              <a:t>eBPF tracepoints hook directly into kernel
syscall entry — zero-miss detection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>
                <a:solidFill>
                  <a:srgbClr val="00F5D4"/>
                </a:solidFill>
                <a:latin typeface="Segoe UI"/>
              </a:rPr>
              <a:t>◆  </a:t>
            </a:r>
            <a:r>
              <a:rPr sz="1400">
                <a:solidFill>
                  <a:srgbClr val="B0BEC5"/>
                </a:solidFill>
                <a:latin typeface="Segoe UI"/>
              </a:rPr>
              <a:t>BPF CO-RE captures process metadata (mntns,
caps) at syscall time — defeats race conditions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>
                <a:solidFill>
                  <a:srgbClr val="00F5D4"/>
                </a:solidFill>
                <a:latin typeface="Segoe UI"/>
              </a:rPr>
              <a:t>◆  </a:t>
            </a:r>
            <a:r>
              <a:rPr sz="1400">
                <a:solidFill>
                  <a:srgbClr val="B0BEC5"/>
                </a:solidFill>
                <a:latin typeface="Segoe UI"/>
              </a:rPr>
              <a:t>Ring buffer delivers events to user-space
detector for enrichment and classification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>
                <a:solidFill>
                  <a:srgbClr val="00F5D4"/>
                </a:solidFill>
                <a:latin typeface="Segoe UI"/>
              </a:rPr>
              <a:t>◆  </a:t>
            </a:r>
            <a:r>
              <a:rPr sz="1400">
                <a:solidFill>
                  <a:srgbClr val="B0BEC5"/>
                </a:solidFill>
                <a:latin typeface="Segoe UI"/>
              </a:rPr>
              <a:t>5 specialized detection functions cover all
major container escape categories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>
                <a:solidFill>
                  <a:srgbClr val="00F5D4"/>
                </a:solidFill>
                <a:latin typeface="Segoe UI"/>
              </a:rPr>
              <a:t>◆  </a:t>
            </a:r>
            <a:r>
              <a:rPr sz="1400">
                <a:solidFill>
                  <a:srgbClr val="B0BEC5"/>
                </a:solidFill>
                <a:latin typeface="Segoe UI"/>
              </a:rPr>
              <a:t>Real attacks against live Docker containers
validate every detection rule end-to-end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Segoe UI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57600" cy="475488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62B"/>
                </a:solidFill>
                <a:latin typeface="Segoe UI"/>
              </a:defRPr>
            </a:pPr>
            <a:r>
              <a:t>KERNEL SPACE  (eBPF)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3108960" cy="502920"/>
          </a:xfrm>
          <a:prstGeom prst="roundRect">
            <a:avLst/>
          </a:prstGeom>
          <a:solidFill>
            <a:srgbClr val="121B2E"/>
          </a:solidFill>
          <a:ln w="1905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285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F5D4"/>
                </a:solidFill>
                <a:latin typeface="Consolas"/>
              </a:rPr>
              <a:t>sys_enter_mount</a:t>
            </a:r>
            <a:r>
              <a:rPr sz="1100">
                <a:solidFill>
                  <a:srgbClr val="B0BEC5"/>
                </a:solidFill>
                <a:latin typeface="Segoe UI"/>
              </a:rPr>
              <a:t>  →  mount() syscalls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3108960" cy="502920"/>
          </a:xfrm>
          <a:prstGeom prst="roundRect">
            <a:avLst/>
          </a:prstGeom>
          <a:solidFill>
            <a:srgbClr val="121B2E"/>
          </a:solidFill>
          <a:ln w="1905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6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F5D4"/>
                </a:solidFill>
                <a:latin typeface="Consolas"/>
              </a:rPr>
              <a:t>sys_enter_setns</a:t>
            </a:r>
            <a:r>
              <a:rPr sz="1100">
                <a:solidFill>
                  <a:srgbClr val="B0BEC5"/>
                </a:solidFill>
                <a:latin typeface="Segoe UI"/>
              </a:rPr>
              <a:t>  →  setns() namespace joins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3108960" cy="502920"/>
          </a:xfrm>
          <a:prstGeom prst="roundRect">
            <a:avLst/>
          </a:prstGeom>
          <a:solidFill>
            <a:srgbClr val="121B2E"/>
          </a:solidFill>
          <a:ln w="1905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08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F5D4"/>
                </a:solidFill>
                <a:latin typeface="Consolas"/>
              </a:rPr>
              <a:t>sys_enter_openat</a:t>
            </a:r>
            <a:r>
              <a:rPr sz="1100">
                <a:solidFill>
                  <a:srgbClr val="B0BEC5"/>
                </a:solidFill>
                <a:latin typeface="Segoe UI"/>
              </a:rPr>
              <a:t>  →  openat() file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3108960" cy="502920"/>
          </a:xfrm>
          <a:prstGeom prst="roundRect">
            <a:avLst/>
          </a:prstGeom>
          <a:solidFill>
            <a:srgbClr val="121B2E"/>
          </a:solidFill>
          <a:ln w="1905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48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F5D4"/>
                </a:solidFill>
                <a:latin typeface="Consolas"/>
              </a:rPr>
              <a:t>sys_enter_connect</a:t>
            </a:r>
            <a:r>
              <a:rPr sz="1100">
                <a:solidFill>
                  <a:srgbClr val="B0BEC5"/>
                </a:solidFill>
                <a:latin typeface="Segoe UI"/>
              </a:rPr>
              <a:t>  →  connect() socket calls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00600"/>
            <a:ext cx="3108960" cy="1005840"/>
          </a:xfrm>
          <a:prstGeom prst="roundRect">
            <a:avLst/>
          </a:prstGeom>
          <a:solidFill>
            <a:srgbClr val="121B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B4D8"/>
                </a:solidFill>
                <a:latin typeface="Segoe UI"/>
              </a:rPr>
              <a:t>BPF CO-RE Reads:</a:t>
            </a:r>
          </a:p>
          <a:p>
            <a:r>
              <a:rPr sz="1100">
                <a:solidFill>
                  <a:srgbClr val="00F5D4"/>
                </a:solidFill>
                <a:latin typeface="Consolas"/>
              </a:rPr>
              <a:t>• task→nsproxy→mnt_ns→ns.inum</a:t>
            </a:r>
          </a:p>
          <a:p>
            <a:r>
              <a:rPr sz="1100">
                <a:solidFill>
                  <a:srgbClr val="00F5D4"/>
                </a:solidFill>
                <a:latin typeface="Consolas"/>
              </a:rPr>
              <a:t>• task→cred→cap_effective.val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01752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4D8"/>
                </a:solidFill>
                <a:latin typeface="Segoe UI"/>
              </a:defRPr>
            </a:pPr>
            <a:r>
              <a:t>▶</a:t>
            </a:r>
            <a:br/>
            <a:r>
              <a:t>▶</a:t>
            </a:r>
            <a:br/>
            <a: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560320"/>
            <a:ext cx="2286000" cy="146304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2651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  <a:latin typeface="Segoe UI"/>
              </a:defRPr>
            </a:pPr>
            <a:r>
              <a:t>RING BUFFER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0632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Consolas"/>
              </a:defRPr>
            </a:pPr>
            <a:r>
              <a:t>BPF_MAP_TYPE_RINGBUF</a:t>
            </a:r>
            <a:br/>
            <a:r>
              <a:t>16 MB capacity</a:t>
            </a:r>
            <a:br/>
            <a:r>
              <a:t>250ms poll interval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01752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4D8"/>
                </a:solidFill>
                <a:latin typeface="Segoe UI"/>
              </a:defRPr>
            </a:pPr>
            <a:r>
              <a:t>▶</a:t>
            </a:r>
            <a:br/>
            <a:r>
              <a:t>▶</a:t>
            </a:r>
            <a:br/>
            <a: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463040"/>
            <a:ext cx="4389120" cy="475488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15544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5D4"/>
                </a:solidFill>
                <a:latin typeface="Segoe UI"/>
              </a:defRPr>
            </a:pPr>
            <a:r>
              <a:t>USER SPACE  (C Detector)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2103120"/>
            <a:ext cx="3840480" cy="457200"/>
          </a:xfrm>
          <a:prstGeom prst="roundRect">
            <a:avLst/>
          </a:prstGeom>
          <a:solidFill>
            <a:srgbClr val="121B2E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212852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F5D4"/>
                </a:solidFill>
                <a:latin typeface="Segoe UI"/>
              </a:rPr>
              <a:t>1. Filter Self  </a:t>
            </a:r>
            <a:r>
              <a:rPr sz="1100">
                <a:solidFill>
                  <a:srgbClr val="B0BEC5"/>
                </a:solidFill>
                <a:latin typeface="Segoe UI"/>
              </a:rPr>
              <a:t>Skip detector's own PID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2651760"/>
            <a:ext cx="3840480" cy="457200"/>
          </a:xfrm>
          <a:prstGeom prst="roundRect">
            <a:avLst/>
          </a:prstGeom>
          <a:solidFill>
            <a:srgbClr val="121B2E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67716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F5D4"/>
                </a:solidFill>
                <a:latin typeface="Segoe UI"/>
              </a:rPr>
              <a:t>2. Mntns Check  </a:t>
            </a:r>
            <a:r>
              <a:rPr sz="1100">
                <a:solidFill>
                  <a:srgbClr val="B0BEC5"/>
                </a:solidFill>
                <a:latin typeface="Segoe UI"/>
              </a:rPr>
              <a:t>BPF mntns ≠ host → container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3200400"/>
            <a:ext cx="3840480" cy="457200"/>
          </a:xfrm>
          <a:prstGeom prst="roundRect">
            <a:avLst/>
          </a:prstGeom>
          <a:solidFill>
            <a:srgbClr val="121B2E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322580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F5D4"/>
                </a:solidFill>
                <a:latin typeface="Segoe UI"/>
              </a:rPr>
              <a:t>3. Enrich  </a:t>
            </a:r>
            <a:r>
              <a:rPr sz="1100">
                <a:solidFill>
                  <a:srgbClr val="B0BEC5"/>
                </a:solidFill>
                <a:latin typeface="Segoe UI"/>
              </a:rPr>
              <a:t>/proc/&lt;pid&gt;/cgroup → ID, runtime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0" y="3749040"/>
            <a:ext cx="3840480" cy="457200"/>
          </a:xfrm>
          <a:prstGeom prst="roundRect">
            <a:avLst/>
          </a:prstGeom>
          <a:solidFill>
            <a:srgbClr val="121B2E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37744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F5D4"/>
                </a:solidFill>
                <a:latin typeface="Segoe UI"/>
              </a:rPr>
              <a:t>4. Noise Filter  </a:t>
            </a:r>
            <a:r>
              <a:rPr sz="1100">
                <a:solidFill>
                  <a:srgbClr val="B0BEC5"/>
                </a:solidFill>
                <a:latin typeface="Segoe UI"/>
              </a:rPr>
              <a:t>Skip dockerd, runc, systemd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4297680"/>
            <a:ext cx="3840480" cy="457200"/>
          </a:xfrm>
          <a:prstGeom prst="roundRect">
            <a:avLst/>
          </a:prstGeom>
          <a:solidFill>
            <a:srgbClr val="121B2E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432308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F5D4"/>
                </a:solidFill>
                <a:latin typeface="Segoe UI"/>
              </a:rPr>
              <a:t>5. Detect  </a:t>
            </a:r>
            <a:r>
              <a:rPr sz="1100">
                <a:solidFill>
                  <a:srgbClr val="B0BEC5"/>
                </a:solidFill>
                <a:latin typeface="Segoe UI"/>
              </a:rPr>
              <a:t>5 exclusive detection functions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4846320"/>
            <a:ext cx="3840480" cy="457200"/>
          </a:xfrm>
          <a:prstGeom prst="roundRect">
            <a:avLst/>
          </a:prstGeom>
          <a:solidFill>
            <a:srgbClr val="121B2E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487172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F5D4"/>
                </a:solidFill>
                <a:latin typeface="Segoe UI"/>
              </a:rPr>
              <a:t>6. Alert  </a:t>
            </a:r>
            <a:r>
              <a:rPr sz="1100">
                <a:solidFill>
                  <a:srgbClr val="B0BEC5"/>
                </a:solidFill>
                <a:latin typeface="Segoe UI"/>
              </a:rPr>
              <a:t>CRITICAL / HIGH / MEDIUM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Segoe UI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FF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eBPF KERNEL PROGRAM — escape_detector.bpf.c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FF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909C"/>
                </a:solidFill>
                <a:latin typeface="Segoe UI"/>
              </a:defRPr>
            </a:pPr>
            <a:r>
              <a:t>191 lines  |  4 tracepoints  |  2 BPF maps  |  CO-RE portable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029200" cy="4389120"/>
          </a:xfrm>
          <a:prstGeom prst="roundRect">
            <a:avLst/>
          </a:prstGeom>
          <a:solidFill>
            <a:srgbClr val="121B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struct event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  uint64_t ts_ns;       // kernel timestamp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  uint32_t pid, tgid;   // thread &amp; process ID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  uint32_t uid, gid;    // user &amp; group ID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  uint32_t mntns;       // mount namespace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  uint32_t event_type;  // MOUNT|OPENAT|CONNECT|SETNS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  int32_t  fd;          // file descriptor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  uint32_t flags;       // syscall flags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  uint32_t family;      // socket family (AF_UNIX)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  uint64_t cgroup_id;   // cgroup identifier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  uint64_t cap_eff;     // effective capabilities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  char comm[16];        // process name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  char path[128];       // file/socket path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  char extra[128];      // mount target/extra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};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645920"/>
            <a:ext cx="5943600" cy="182880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737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62B"/>
                </a:solidFill>
                <a:latin typeface="Segoe UI"/>
              </a:defRPr>
            </a:pPr>
            <a:r>
              <a:t>CO-RE: Compile Once, Run Everywhere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194560"/>
            <a:ext cx="5577840" cy="1097280"/>
          </a:xfrm>
          <a:prstGeom prst="roundRect">
            <a:avLst/>
          </a:prstGeom>
          <a:solidFill>
            <a:srgbClr val="121B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struct task_struct *task = bpf_get_current_task();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e-&gt;mntns  = BPF_CORE_READ(task, nsproxy, mnt_ns, ns.inum);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e-&gt;cap_eff = BPF_CORE_READ(task, cred, cap_effective.val);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3749039"/>
            <a:ext cx="5943600" cy="137160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Segoe UI"/>
              </a:defRPr>
            </a:pPr>
            <a:r>
              <a:t>Self-Filtering (Prevents Feedback Loop)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4251960"/>
            <a:ext cx="5577840" cy="731520"/>
          </a:xfrm>
          <a:prstGeom prst="roundRect">
            <a:avLst/>
          </a:prstGeom>
          <a:solidFill>
            <a:srgbClr val="121B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static int is_self(void)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  __u32 *pid = bpf_map_lookup_elem(&amp;detector_pid, &amp;key);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  return (pid &amp;&amp; *pid == (bpf_get_current_pid_tgid()&gt;&gt;32));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5394960"/>
            <a:ext cx="2743200" cy="77724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5440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F5D4"/>
                </a:solidFill>
                <a:latin typeface="Consolas"/>
              </a:defRPr>
            </a:pPr>
            <a:r>
              <a:t>events  (RINGBUF 16MB)</a:t>
            </a:r>
            <a:br/>
            <a:r>
              <a:t>Kernel → Userspace event pipe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5394960"/>
            <a:ext cx="2926080" cy="77724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54406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F5D4"/>
                </a:solidFill>
                <a:latin typeface="Consolas"/>
              </a:defRPr>
            </a:pPr>
            <a:r>
              <a:t>detector_pid  (ARRAY[1])</a:t>
            </a:r>
            <a:br/>
            <a:r>
              <a:t>Stores detector PID for filtering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Segoe UI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USER-SPACE DETECTOR ENGINE — detector.c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909C"/>
                </a:solidFill>
                <a:latin typeface="Segoe UI"/>
              </a:defRPr>
            </a:pPr>
            <a:r>
              <a:t>658 lines  |  5 detection functions  |  Metadata enrichment  |  Noise filtering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1247120" cy="77724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FF4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30680"/>
            <a:ext cx="1188720" cy="320040"/>
          </a:xfrm>
          <a:prstGeom prst="roundRect">
            <a:avLst/>
          </a:prstGeom>
          <a:solidFill>
            <a:srgbClr val="FF4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30680"/>
            <a:ext cx="1188720" cy="320040"/>
          </a:xfrm>
          <a:prstGeom prst="rect">
            <a:avLst/>
          </a:prstGeom>
          <a:noFill/>
        </p:spPr>
        <p:txBody>
          <a:bodyPr wrap="none" t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579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76B"/>
                </a:solidFill>
                <a:latin typeface="Consolas"/>
              </a:defRPr>
            </a:pPr>
            <a:r>
              <a:t>DOCKER-SOCKET-ESCAPE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33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Consolas"/>
              </a:defRPr>
            </a:pPr>
            <a:r>
              <a:t>connect(AF_UNIX) to /var/run/docker.sock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579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Container accesses Docker daemon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23160"/>
            <a:ext cx="11247120" cy="77724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FF4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499360"/>
            <a:ext cx="1188720" cy="320040"/>
          </a:xfrm>
          <a:prstGeom prst="roundRect">
            <a:avLst/>
          </a:prstGeom>
          <a:solidFill>
            <a:srgbClr val="FF4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99360"/>
            <a:ext cx="1188720" cy="320040"/>
          </a:xfrm>
          <a:prstGeom prst="rect">
            <a:avLst/>
          </a:prstGeom>
          <a:noFill/>
        </p:spPr>
        <p:txBody>
          <a:bodyPr wrap="none" t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CRITICAL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448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76B"/>
                </a:solidFill>
                <a:latin typeface="Consolas"/>
              </a:defRPr>
            </a:pPr>
            <a:r>
              <a:t>PRIVILEGED-ESCAPE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702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Consolas"/>
              </a:defRPr>
            </a:pPr>
            <a:r>
              <a:t>mount() + openat(/proc/1/root/*) + CAP_SYS_ADMIN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448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Privileged container escapes via mount or /proc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91840"/>
            <a:ext cx="11247120" cy="77724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FF4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368040"/>
            <a:ext cx="1188720" cy="320040"/>
          </a:xfrm>
          <a:prstGeom prst="roundRect">
            <a:avLst/>
          </a:prstGeom>
          <a:solidFill>
            <a:srgbClr val="FF4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68040"/>
            <a:ext cx="1188720" cy="320040"/>
          </a:xfrm>
          <a:prstGeom prst="rect">
            <a:avLst/>
          </a:prstGeom>
          <a:noFill/>
        </p:spPr>
        <p:txBody>
          <a:bodyPr wrap="none" t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317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76B"/>
                </a:solidFill>
                <a:latin typeface="Consolas"/>
              </a:defRPr>
            </a:pPr>
            <a:r>
              <a:t>CGROUP-ESCAPE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571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Consolas"/>
              </a:defRPr>
            </a:pPr>
            <a:r>
              <a:t>mount("cgroup") + openat(release_agent)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317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CVE-2022-0492 cgroup release_agent abuse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60520"/>
            <a:ext cx="11247120" cy="77724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4236720"/>
            <a:ext cx="1188720" cy="320040"/>
          </a:xfrm>
          <a:prstGeom prst="roundRect">
            <a:avLst/>
          </a:prstGeom>
          <a:solidFill>
            <a:srgbClr val="FF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36720"/>
            <a:ext cx="1188720" cy="320040"/>
          </a:xfrm>
          <a:prstGeom prst="rect">
            <a:avLst/>
          </a:prstGeom>
          <a:noFill/>
        </p:spPr>
        <p:txBody>
          <a:bodyPr wrap="none" t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18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62B"/>
                </a:solidFill>
                <a:latin typeface="Consolas"/>
              </a:defRPr>
            </a:pPr>
            <a:r>
              <a:t>SENSITIVE-FS-ACCESS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439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Consolas"/>
              </a:defRPr>
            </a:pPr>
            <a:r>
              <a:t>openat(/hostfs/etc/shadow, /proc/1/environ)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185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Container reads host credentials via bind mount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029200"/>
            <a:ext cx="11247120" cy="77724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FF4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5105400"/>
            <a:ext cx="1188720" cy="320040"/>
          </a:xfrm>
          <a:prstGeom prst="roundRect">
            <a:avLst/>
          </a:prstGeom>
          <a:solidFill>
            <a:srgbClr val="FF4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105400"/>
            <a:ext cx="1188720" cy="320040"/>
          </a:xfrm>
          <a:prstGeom prst="rect">
            <a:avLst/>
          </a:prstGeom>
          <a:noFill/>
        </p:spPr>
        <p:txBody>
          <a:bodyPr wrap="none" t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CRITICAL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5054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76B"/>
                </a:solidFill>
                <a:latin typeface="Consolas"/>
              </a:defRPr>
            </a:pPr>
            <a:r>
              <a:t>NAMESPACE-ESCAPE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30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Consolas"/>
              </a:defRPr>
            </a:pPr>
            <a:r>
              <a:t>setns() + openat(/proc/1/ns/*)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5054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Container joins host namespaces via nsenter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6080760"/>
            <a:ext cx="11247120" cy="45720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126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583FF"/>
                </a:solidFill>
                <a:latin typeface="Segoe UI"/>
              </a:defRPr>
            </a:pPr>
            <a:r>
              <a:t>⚡ Exclusive Order: Docker Socket → Cgroup → Namespace → Privileged → Sensitive FS  (first match wins — prevents cross-triggering between detectors)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Segoe UI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FF4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FIVE REAL CONTAINER ESCAPE ATTACKS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FF4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194560" cy="484632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FF4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554480"/>
            <a:ext cx="640080" cy="640080"/>
          </a:xfrm>
          <a:prstGeom prst="ellipse">
            <a:avLst/>
          </a:prstGeom>
          <a:solidFill>
            <a:srgbClr val="FF4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331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Docker Socket</a:t>
            </a:r>
            <a:br/>
            <a:r>
              <a:t>Escape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063240"/>
            <a:ext cx="2011680" cy="822960"/>
          </a:xfrm>
          <a:prstGeom prst="roundRect">
            <a:avLst/>
          </a:prstGeom>
          <a:solidFill>
            <a:srgbClr val="12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5D4"/>
                </a:solidFill>
                <a:latin typeface="Consolas"/>
              </a:defRPr>
            </a:pPr>
            <a:r>
              <a:t>-v /var/run/docker.sock</a:t>
            </a:r>
            <a:br/>
            <a:r>
              <a:t>:/var/run/docker.sock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1148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8909C"/>
                </a:solidFill>
                <a:latin typeface="Segoe UI"/>
              </a:defRPr>
            </a:pPr>
            <a:r>
              <a:t>Technique: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434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curl → Docker API →</a:t>
            </a:r>
            <a:br/>
            <a:r>
              <a:t>spawn privileged container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349240"/>
            <a:ext cx="2011680" cy="320040"/>
          </a:xfrm>
          <a:prstGeom prst="roundRect">
            <a:avLst/>
          </a:prstGeom>
          <a:solidFill>
            <a:srgbClr val="FF4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5367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1371600"/>
            <a:ext cx="2194560" cy="484632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83280" y="1554480"/>
            <a:ext cx="640080" cy="640080"/>
          </a:xfrm>
          <a:prstGeom prst="ellipse">
            <a:avLst/>
          </a:prstGeom>
          <a:solidFill>
            <a:srgbClr val="FF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331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Privileged</a:t>
            </a:r>
            <a:br/>
            <a:r>
              <a:t>Escape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3063240"/>
            <a:ext cx="2011680" cy="822960"/>
          </a:xfrm>
          <a:prstGeom prst="roundRect">
            <a:avLst/>
          </a:prstGeom>
          <a:solidFill>
            <a:srgbClr val="12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5D4"/>
                </a:solidFill>
                <a:latin typeface="Consolas"/>
              </a:defRPr>
            </a:pPr>
            <a:r>
              <a:t>--privileged</a:t>
            </a:r>
            <a:br/>
            <a:r>
              <a:t>--pid=host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1148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8909C"/>
                </a:solidFill>
                <a:latin typeface="Segoe UI"/>
              </a:defRPr>
            </a:pPr>
            <a:r>
              <a:t>Technique: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434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mount proc → read</a:t>
            </a:r>
            <a:br/>
            <a:r>
              <a:t>/proc/1/root/etc/shadow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97480" y="5349240"/>
            <a:ext cx="2011680" cy="320040"/>
          </a:xfrm>
          <a:prstGeom prst="roundRect">
            <a:avLst/>
          </a:prstGeom>
          <a:solidFill>
            <a:srgbClr val="FF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5367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1371600"/>
            <a:ext cx="2194560" cy="484632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15000" y="1554480"/>
            <a:ext cx="640080" cy="640080"/>
          </a:xfrm>
          <a:prstGeom prst="ellipse">
            <a:avLst/>
          </a:prstGeom>
          <a:solidFill>
            <a:srgbClr val="FF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2331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Cgroup Escape</a:t>
            </a:r>
            <a:br/>
            <a:r>
              <a:t>(CVE-2022-0492)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063240"/>
            <a:ext cx="2011680" cy="822960"/>
          </a:xfrm>
          <a:prstGeom prst="roundRect">
            <a:avLst/>
          </a:prstGeom>
          <a:solidFill>
            <a:srgbClr val="12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5D4"/>
                </a:solidFill>
                <a:latin typeface="Consolas"/>
              </a:defRPr>
            </a:pPr>
            <a:r>
              <a:t>--privileged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41148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8909C"/>
                </a:solidFill>
                <a:latin typeface="Segoe UI"/>
              </a:defRPr>
            </a:pPr>
            <a:r>
              <a:t>Technique: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4434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mount cgroup → write</a:t>
            </a:r>
            <a:br/>
            <a:r>
              <a:t>release_agent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0" y="5349240"/>
            <a:ext cx="2011680" cy="320040"/>
          </a:xfrm>
          <a:prstGeom prst="roundRect">
            <a:avLst/>
          </a:prstGeom>
          <a:solidFill>
            <a:srgbClr val="FFA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5367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69480" y="1371600"/>
            <a:ext cx="2194560" cy="484632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46720" y="1554480"/>
            <a:ext cx="640080" cy="6400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2331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Sensitive FS</a:t>
            </a:r>
            <a:br/>
            <a:r>
              <a:t>Access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60920" y="3063240"/>
            <a:ext cx="2011680" cy="822960"/>
          </a:xfrm>
          <a:prstGeom prst="roundRect">
            <a:avLst/>
          </a:prstGeom>
          <a:solidFill>
            <a:srgbClr val="12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5D4"/>
                </a:solidFill>
                <a:latin typeface="Consolas"/>
              </a:defRPr>
            </a:pPr>
            <a:r>
              <a:t>-v /:/hostfs:ro</a:t>
            </a:r>
            <a:br/>
            <a:r>
              <a:t>--pid=host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41148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8909C"/>
                </a:solidFill>
                <a:latin typeface="Segoe UI"/>
              </a:defRPr>
            </a:pPr>
            <a:r>
              <a:t>Technique: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4434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read /hostfs/etc/shadow</a:t>
            </a:r>
            <a:br/>
            <a:r>
              <a:t>/proc/1/environ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60920" y="5349240"/>
            <a:ext cx="2011680" cy="3200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5367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1200" y="1371600"/>
            <a:ext cx="2194560" cy="484632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378440" y="1554480"/>
            <a:ext cx="640080" cy="640080"/>
          </a:xfrm>
          <a:prstGeom prst="ellipse">
            <a:avLst/>
          </a:prstGeom>
          <a:solidFill>
            <a:srgbClr val="B5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2331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Namespace</a:t>
            </a:r>
            <a:br/>
            <a:r>
              <a:t>Escape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92640" y="3063240"/>
            <a:ext cx="2011680" cy="822960"/>
          </a:xfrm>
          <a:prstGeom prst="roundRect">
            <a:avLst/>
          </a:prstGeom>
          <a:solidFill>
            <a:srgbClr val="12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84080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5D4"/>
                </a:solidFill>
                <a:latin typeface="Consolas"/>
              </a:defRPr>
            </a:pPr>
            <a:r>
              <a:t>--privileged</a:t>
            </a:r>
            <a:br/>
            <a:r>
              <a:t>--pid=host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38360" y="41148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8909C"/>
                </a:solidFill>
                <a:latin typeface="Segoe UI"/>
              </a:defRPr>
            </a:pPr>
            <a:r>
              <a:t>Technique: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4434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nsenter -t 1 -m -u -n</a:t>
            </a:r>
            <a:br/>
            <a:r>
              <a:t>-i -p → full host access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92640" y="5349240"/>
            <a:ext cx="2011680" cy="320040"/>
          </a:xfrm>
          <a:prstGeom prst="roundRect">
            <a:avLst/>
          </a:prstGeom>
          <a:solidFill>
            <a:srgbClr val="B5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92640" y="5367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8909C"/>
                </a:solidFill>
                <a:latin typeface="Segoe UI"/>
              </a:defRPr>
            </a:pPr>
            <a:r>
              <a:t>All attacks run as real Docker containers against live Docker daemon — not simulated or mocked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Segoe UI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LIVE DETECTION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11612880" cy="5029200"/>
          </a:xfrm>
          <a:prstGeom prst="roundRect">
            <a:avLst/>
          </a:prstGeom>
          <a:solidFill>
            <a:srgbClr val="121B2E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5D4"/>
                </a:solidFill>
                <a:latin typeface="Consolas"/>
              </a:defRPr>
            </a:pPr>
            <a:r>
              <a:t>  $ sudo ./bin/detector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476B"/>
                </a:solidFill>
                <a:latin typeface="Consolas"/>
              </a:rPr>
              <a:t>[CRITICAL] [DOCKER-SOCKET-ESCAPE] rule=docker-socket-connect</a:t>
            </a:r>
          </a:p>
          <a:p>
            <a:r>
              <a:rPr sz="1000">
                <a:solidFill>
                  <a:srgbClr val="B0BEC5"/>
                </a:solidFill>
                <a:latin typeface="Consolas"/>
              </a:rPr>
              <a:t>  pid=165727 comm=curl path=/var/run/docker.sock container=8c8bb2b1baee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476B"/>
                </a:solidFill>
                <a:latin typeface="Consolas"/>
              </a:rPr>
              <a:t>[CRITICAL] [PRIVILEGED-ESCAPE] rule=container-mount</a:t>
            </a:r>
          </a:p>
          <a:p>
            <a:r>
              <a:rPr sz="1000">
                <a:solidFill>
                  <a:srgbClr val="B0BEC5"/>
                </a:solidFill>
                <a:latin typeface="Consolas"/>
              </a:rPr>
              <a:t>  pid=166052 comm=mount path=proc container=b553d4c60a5d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476B"/>
                </a:solidFill>
                <a:latin typeface="Consolas"/>
              </a:rPr>
              <a:t>[CRITICAL] [PRIVILEGED-ESCAPE] rule=proc-root-access</a:t>
            </a:r>
          </a:p>
          <a:p>
            <a:r>
              <a:rPr sz="1000">
                <a:solidFill>
                  <a:srgbClr val="B0BEC5"/>
                </a:solidFill>
                <a:latin typeface="Consolas"/>
              </a:rPr>
              <a:t>  pid=166062 comm=cat path=/proc/1/root/etc/hostname container=b553d4c60a5d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476B"/>
                </a:solidFill>
                <a:latin typeface="Consolas"/>
              </a:rPr>
              <a:t>[CRITICAL] [CGROUP-ESCAPE] rule=cgroup-mount</a:t>
            </a:r>
          </a:p>
          <a:p>
            <a:r>
              <a:rPr sz="1000">
                <a:solidFill>
                  <a:srgbClr val="B0BEC5"/>
                </a:solidFill>
                <a:latin typeface="Consolas"/>
              </a:rPr>
              <a:t>  pid=166366 comm=mount path=cgroup container=203b535e89c2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A62B"/>
                </a:solidFill>
                <a:latin typeface="Consolas"/>
              </a:rPr>
              <a:t>[HIGH] [SENSITIVE-FS-ACCESS] rule=hostfs-credential-read</a:t>
            </a:r>
          </a:p>
          <a:p>
            <a:r>
              <a:rPr sz="1000">
                <a:solidFill>
                  <a:srgbClr val="B0BEC5"/>
                </a:solidFill>
                <a:latin typeface="Consolas"/>
              </a:rPr>
              <a:t>  pid=167060 comm=bash path=/hostfs/etc/shadow container=7d184871bd8c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A62B"/>
                </a:solidFill>
                <a:latin typeface="Consolas"/>
              </a:rPr>
              <a:t>[HIGH] [SENSITIVE-FS-ACCESS] rule=host-environ-read</a:t>
            </a:r>
          </a:p>
          <a:p>
            <a:r>
              <a:rPr sz="1000">
                <a:solidFill>
                  <a:srgbClr val="B0BEC5"/>
                </a:solidFill>
                <a:latin typeface="Consolas"/>
              </a:rPr>
              <a:t>  pid=167065 comm=bash path=/proc/1/environ container=7d184871bd8c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476B"/>
                </a:solidFill>
                <a:latin typeface="Consolas"/>
              </a:rPr>
              <a:t>[CRITICAL] [NAMESPACE-ESCAPE] rule=namespace-setns</a:t>
            </a:r>
          </a:p>
          <a:p>
            <a:r>
              <a:rPr sz="1000">
                <a:solidFill>
                  <a:srgbClr val="B0BEC5"/>
                </a:solidFill>
                <a:latin typeface="Consolas"/>
              </a:rPr>
              <a:t>  pid=167345 comm=nsenter container=80f95cc29cf1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A62B"/>
                </a:solidFill>
                <a:latin typeface="Consolas"/>
              </a:rPr>
              <a:t>[HIGH] [NAMESPACE-ESCAPE] rule=namespace-probe</a:t>
            </a:r>
          </a:p>
          <a:p>
            <a:r>
              <a:rPr sz="1000">
                <a:solidFill>
                  <a:srgbClr val="B0BEC5"/>
                </a:solidFill>
                <a:latin typeface="Consolas"/>
              </a:rPr>
              <a:t>  pid=167351 comm=nsenter path=/proc/1/ns/mnt container=80f95cc29cf1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Segoe U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B5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KEY CHALLENGES &amp;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B5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1247120" cy="86868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11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Feedback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5011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476B"/>
                </a:solidFill>
                <a:latin typeface="Segoe UI"/>
              </a:rPr>
              <a:t>✗  </a:t>
            </a:r>
            <a:r>
              <a:rPr sz="1100">
                <a:solidFill>
                  <a:srgbClr val="B0BEC5"/>
                </a:solidFill>
                <a:latin typeface="Segoe UI"/>
              </a:rPr>
              <a:t>Detector reads /proc → triggers eBPF → infinite recursion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5011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F5D4"/>
                </a:solidFill>
                <a:latin typeface="Segoe UI"/>
              </a:rPr>
              <a:t>✓  </a:t>
            </a:r>
            <a:r>
              <a:rPr sz="1100">
                <a:solidFill>
                  <a:srgbClr val="B0BEC5"/>
                </a:solidFill>
                <a:latin typeface="Segoe UI"/>
              </a:rPr>
              <a:t>BPF-side detector_pid map + userspace self_tgid filter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23160"/>
            <a:ext cx="11247120" cy="86868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12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Short-Lived Process 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4612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476B"/>
                </a:solidFill>
                <a:latin typeface="Segoe UI"/>
              </a:rPr>
              <a:t>✗  </a:t>
            </a:r>
            <a:r>
              <a:rPr sz="1100">
                <a:solidFill>
                  <a:srgbClr val="B0BEC5"/>
                </a:solidFill>
                <a:latin typeface="Segoe UI"/>
              </a:rPr>
              <a:t>Container process exits before /proc/&lt;pid&gt;/cgroup is readable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4612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F5D4"/>
                </a:solidFill>
                <a:latin typeface="Segoe UI"/>
              </a:rPr>
              <a:t>✓  </a:t>
            </a:r>
            <a:r>
              <a:rPr sz="1100">
                <a:solidFill>
                  <a:srgbClr val="B0BEC5"/>
                </a:solidFill>
                <a:latin typeface="Segoe UI"/>
              </a:rPr>
              <a:t>CO-RE reads mntns + cap_effective at kernel syscall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11247120" cy="86868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213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False Positives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4213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A62B"/>
                </a:solidFill>
                <a:latin typeface="Segoe UI"/>
              </a:rPr>
              <a:t>✗  </a:t>
            </a:r>
            <a:r>
              <a:rPr sz="1100">
                <a:solidFill>
                  <a:srgbClr val="B0BEC5"/>
                </a:solidFill>
                <a:latin typeface="Segoe UI"/>
              </a:rPr>
              <a:t>systemd-oomd, dockerd, runc generate noise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4213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F5D4"/>
                </a:solidFill>
                <a:latin typeface="Segoe UI"/>
              </a:rPr>
              <a:t>✓  </a:t>
            </a:r>
            <a:r>
              <a:rPr sz="1100">
                <a:solidFill>
                  <a:srgbClr val="B0BEC5"/>
                </a:solidFill>
                <a:latin typeface="Segoe UI"/>
              </a:rPr>
              <a:t>Host noise comm[] allowlist + strict container-only filtering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43400"/>
            <a:ext cx="11247120" cy="86868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815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Cross-Triggering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3815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A62B"/>
                </a:solidFill>
                <a:latin typeface="Segoe UI"/>
              </a:rPr>
              <a:t>✗  </a:t>
            </a:r>
            <a:r>
              <a:rPr sz="1100">
                <a:solidFill>
                  <a:srgbClr val="B0BEC5"/>
                </a:solidFill>
                <a:latin typeface="Segoe UI"/>
              </a:rPr>
              <a:t>Attack scripts trigger multiple detection categories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3815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F5D4"/>
                </a:solidFill>
                <a:latin typeface="Segoe UI"/>
              </a:rPr>
              <a:t>✓  </a:t>
            </a:r>
            <a:r>
              <a:rPr sz="1100">
                <a:solidFill>
                  <a:srgbClr val="B0BEC5"/>
                </a:solidFill>
                <a:latin typeface="Segoe UI"/>
              </a:rPr>
              <a:t>Exclusive detection order (first match wins) + per-attack script isolation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03520"/>
            <a:ext cx="11247120" cy="86868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416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BPF Verifier Rejection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3416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A62B"/>
                </a:solidFill>
                <a:latin typeface="Segoe UI"/>
              </a:rPr>
              <a:t>✗  </a:t>
            </a:r>
            <a:r>
              <a:rPr sz="1100">
                <a:solidFill>
                  <a:srgbClr val="B0BEC5"/>
                </a:solidFill>
                <a:latin typeface="Segoe UI"/>
              </a:rPr>
              <a:t>connect() probe failed with uninitialized stack 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53416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F5D4"/>
                </a:solidFill>
                <a:latin typeface="Segoe UI"/>
              </a:rPr>
              <a:t>✓  </a:t>
            </a:r>
            <a:r>
              <a:rPr sz="1100">
                <a:solidFill>
                  <a:srgbClr val="B0BEC5"/>
                </a:solidFill>
                <a:latin typeface="Segoe UI"/>
              </a:rPr>
              <a:t>__builtin_memset zeroes path/extra before bpf_probe_read_user_str()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Segoe UI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PROJECT STRUCTURE &amp; BUILD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029200" cy="4754880"/>
          </a:xfrm>
          <a:prstGeom prst="roundRect">
            <a:avLst/>
          </a:prstGeom>
          <a:solidFill>
            <a:srgbClr val="121B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00F5D4"/>
                </a:solidFill>
                <a:latin typeface="Consolas"/>
              </a:rPr>
              <a:t>container-escape-detector/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00F5D4"/>
                </a:solidFill>
                <a:latin typeface="Consolas"/>
              </a:rPr>
              <a:t>├── internal/bpf/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00F5D4"/>
                </a:solidFill>
                <a:latin typeface="Consolas"/>
              </a:rPr>
              <a:t>│   ├── escape_detector.bpf.c   # eBPF kernel program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00F5D4"/>
                </a:solidFill>
                <a:latin typeface="Consolas"/>
              </a:rPr>
              <a:t>│   └── escape_detector.bpf.o   # Compiled BPF object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00F5D4"/>
                </a:solidFill>
                <a:latin typeface="Consolas"/>
              </a:rPr>
              <a:t>├── cmd/detector/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00F5D4"/>
                </a:solidFill>
                <a:latin typeface="Consolas"/>
              </a:rPr>
              <a:t>│   └── detector.c              # User-space engine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00F5D4"/>
                </a:solidFill>
                <a:latin typeface="Consolas"/>
              </a:rPr>
              <a:t>├── attacks/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00F5D4"/>
                </a:solidFill>
                <a:latin typeface="Consolas"/>
              </a:rPr>
              <a:t>│   ├── attack1_docker_socket.sh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00F5D4"/>
                </a:solidFill>
                <a:latin typeface="Consolas"/>
              </a:rPr>
              <a:t>│   ├── attack2_privileged_escape.sh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00F5D4"/>
                </a:solidFill>
                <a:latin typeface="Consolas"/>
              </a:rPr>
              <a:t>│   ├── attack3_cgroup_escape.sh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00F5D4"/>
                </a:solidFill>
                <a:latin typeface="Consolas"/>
              </a:rPr>
              <a:t>│   ├── attack4_sensitive_fs_access.sh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00F5D4"/>
                </a:solidFill>
                <a:latin typeface="Consolas"/>
              </a:rPr>
              <a:t>│   ├── attack5_namespace_escape.sh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00F5D4"/>
                </a:solidFill>
                <a:latin typeface="Consolas"/>
              </a:rPr>
              <a:t>│   └── run_real_attacks.sh      # Orchestrator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00F5D4"/>
                </a:solidFill>
                <a:latin typeface="Consolas"/>
              </a:rPr>
              <a:t>├── scripts/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00F5D4"/>
                </a:solidFill>
                <a:latin typeface="Consolas"/>
              </a:rPr>
              <a:t>│   ├── simulate_attack.c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00F5D4"/>
                </a:solidFill>
                <a:latin typeface="Consolas"/>
              </a:rPr>
              <a:t>│   └── run_demo.sh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00F5D4"/>
                </a:solidFill>
                <a:latin typeface="Consolas"/>
              </a:rPr>
              <a:t>├── examples/policy.yaml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00F5D4"/>
                </a:solidFill>
                <a:latin typeface="Consolas"/>
              </a:rPr>
              <a:t>├── Makefile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00F5D4"/>
                </a:solidFill>
                <a:latin typeface="Consolas"/>
              </a:rPr>
              <a:t>├── Dockerfile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00F5D4"/>
                </a:solidFill>
                <a:latin typeface="Consolas"/>
              </a:rPr>
              <a:t>└── README.md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5760720" cy="228600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Segoe UI"/>
              </a:defRPr>
            </a:pPr>
            <a:r>
              <a:t>Build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920240"/>
            <a:ext cx="5394960" cy="1554480"/>
          </a:xfrm>
          <a:prstGeom prst="roundRect">
            <a:avLst/>
          </a:prstGeom>
          <a:solidFill>
            <a:srgbClr val="121B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# 1. Compile BPF (kernel program)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clang -O2 -target bpf -c escape_detector.bpf.c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llvm-strip -g escape_detector.bpf.o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# 2. Compile detector (user-space)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gcc -O2 detector.c -o detector -lbpf -lelf -lz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# 3. Run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F5D4"/>
                </a:solidFill>
                <a:latin typeface="Consolas"/>
              </a:rPr>
              <a:t>sudo ./bin/detector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931920"/>
            <a:ext cx="5760720" cy="237744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4023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5D4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48056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F5D4"/>
                </a:solidFill>
                <a:latin typeface="Segoe UI"/>
              </a:rPr>
              <a:t>Kernel:  </a:t>
            </a:r>
            <a:r>
              <a:rPr sz="1200">
                <a:solidFill>
                  <a:srgbClr val="B0BEC5"/>
                </a:solidFill>
                <a:latin typeface="Segoe UI"/>
              </a:rPr>
              <a:t>Linux 6.17, eBPF tracepoints, CO-RE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773168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F5D4"/>
                </a:solidFill>
                <a:latin typeface="Segoe UI"/>
              </a:rPr>
              <a:t>BPF Toolchain:  </a:t>
            </a:r>
            <a:r>
              <a:rPr sz="1200">
                <a:solidFill>
                  <a:srgbClr val="B0BEC5"/>
                </a:solidFill>
                <a:latin typeface="Segoe UI"/>
              </a:rPr>
              <a:t>clang/llvm (BPF target), llvm-strip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065776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F5D4"/>
                </a:solidFill>
                <a:latin typeface="Segoe UI"/>
              </a:rPr>
              <a:t>Libraries:  </a:t>
            </a:r>
            <a:r>
              <a:rPr sz="1200">
                <a:solidFill>
                  <a:srgbClr val="B0BEC5"/>
                </a:solidFill>
                <a:latin typeface="Segoe UI"/>
              </a:rPr>
              <a:t>libbpf, libelf, zlib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358384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F5D4"/>
                </a:solidFill>
                <a:latin typeface="Segoe UI"/>
              </a:rPr>
              <a:t>Language:  </a:t>
            </a:r>
            <a:r>
              <a:rPr sz="1200">
                <a:solidFill>
                  <a:srgbClr val="B0BEC5"/>
                </a:solidFill>
                <a:latin typeface="Segoe UI"/>
              </a:rPr>
              <a:t>C (kernel + user-space, ~850 lines total)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65099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F5D4"/>
                </a:solidFill>
                <a:latin typeface="Segoe UI"/>
              </a:rPr>
              <a:t>Container:  </a:t>
            </a:r>
            <a:r>
              <a:rPr sz="1200">
                <a:solidFill>
                  <a:srgbClr val="B0BEC5"/>
                </a:solidFill>
                <a:latin typeface="Segoe UI"/>
              </a:rPr>
              <a:t>Docker 28.x, ubuntu:22.04 images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94360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F5D4"/>
                </a:solidFill>
                <a:latin typeface="Segoe UI"/>
              </a:rPr>
              <a:t>Platform:  </a:t>
            </a:r>
            <a:r>
              <a:rPr sz="1200">
                <a:solidFill>
                  <a:srgbClr val="B0BEC5"/>
                </a:solidFill>
                <a:latin typeface="Segoe UI"/>
              </a:rPr>
              <a:t>Ubuntu 24.04 / aarch64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Segoe U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SUMMARY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56032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Segoe UI"/>
              </a:defRPr>
            </a:pPr>
            <a:r>
              <a:t>What We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100">
                <a:solidFill>
                  <a:srgbClr val="00B4D8"/>
                </a:solidFill>
                <a:latin typeface="Segoe UI"/>
              </a:rPr>
              <a:t>◆  </a:t>
            </a:r>
            <a:r>
              <a:rPr sz="1300">
                <a:solidFill>
                  <a:srgbClr val="B0BEC5"/>
                </a:solidFill>
                <a:latin typeface="Segoe UI"/>
              </a:rPr>
              <a:t>eBPF kernel program (191 lines) tracing 4 syscalls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100">
                <a:solidFill>
                  <a:srgbClr val="00B4D8"/>
                </a:solidFill>
                <a:latin typeface="Segoe UI"/>
              </a:rPr>
              <a:t>◆  </a:t>
            </a:r>
            <a:r>
              <a:rPr sz="1300">
                <a:solidFill>
                  <a:srgbClr val="B0BEC5"/>
                </a:solidFill>
                <a:latin typeface="Segoe UI"/>
              </a:rPr>
              <a:t>C user-space detector (658 lines) with 5 attack classifiers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100">
                <a:solidFill>
                  <a:srgbClr val="00B4D8"/>
                </a:solidFill>
                <a:latin typeface="Segoe UI"/>
              </a:rPr>
              <a:t>◆  </a:t>
            </a:r>
            <a:r>
              <a:rPr sz="1300">
                <a:solidFill>
                  <a:srgbClr val="B0BEC5"/>
                </a:solidFill>
                <a:latin typeface="Segoe UI"/>
              </a:rPr>
              <a:t>5 real attack scripts against live Docker containers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100">
                <a:solidFill>
                  <a:srgbClr val="00B4D8"/>
                </a:solidFill>
                <a:latin typeface="Segoe UI"/>
              </a:rPr>
              <a:t>◆  </a:t>
            </a:r>
            <a:r>
              <a:rPr sz="1300">
                <a:solidFill>
                  <a:srgbClr val="B0BEC5"/>
                </a:solidFill>
                <a:latin typeface="Segoe UI"/>
              </a:rPr>
              <a:t>CO-RE portable BPF: runs on any kernel 5.x+ without recompile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100">
                <a:solidFill>
                  <a:srgbClr val="00B4D8"/>
                </a:solidFill>
                <a:latin typeface="Segoe UI"/>
              </a:rPr>
              <a:t>◆  </a:t>
            </a:r>
            <a:r>
              <a:rPr sz="1300">
                <a:solidFill>
                  <a:srgbClr val="B0BEC5"/>
                </a:solidFill>
                <a:latin typeface="Segoe UI"/>
              </a:rPr>
              <a:t>Zero-dependency detection: no container agents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256032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5D4"/>
                </a:solidFill>
                <a:latin typeface="Segoe UI"/>
              </a:defRPr>
            </a:pPr>
            <a:r>
              <a:t>Key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F5D4"/>
                </a:solidFill>
                <a:latin typeface="Consolas"/>
              </a:rPr>
              <a:t>5/5  </a:t>
            </a:r>
            <a:r>
              <a:rPr sz="1300">
                <a:solidFill>
                  <a:srgbClr val="B0BEC5"/>
                </a:solidFill>
                <a:latin typeface="Segoe UI"/>
              </a:rPr>
              <a:t>attack categories detected correctly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1343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F5D4"/>
                </a:solidFill>
                <a:latin typeface="Consolas"/>
              </a:rPr>
              <a:t>0  </a:t>
            </a:r>
            <a:r>
              <a:rPr sz="1300">
                <a:solidFill>
                  <a:srgbClr val="B0BEC5"/>
                </a:solidFill>
                <a:latin typeface="Segoe UI"/>
              </a:rPr>
              <a:t>cross-triggers between detectors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60904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F5D4"/>
                </a:solidFill>
                <a:latin typeface="Consolas"/>
              </a:rPr>
              <a:t>0  </a:t>
            </a:r>
            <a:r>
              <a:rPr sz="1300">
                <a:solidFill>
                  <a:srgbClr val="B0BEC5"/>
                </a:solidFill>
                <a:latin typeface="Segoe UI"/>
              </a:rPr>
              <a:t>false positives from host system noise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008376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F5D4"/>
                </a:solidFill>
                <a:latin typeface="Consolas"/>
              </a:rPr>
              <a:t>&lt; 1ms  </a:t>
            </a:r>
            <a:r>
              <a:rPr sz="1300">
                <a:solidFill>
                  <a:srgbClr val="B0BEC5"/>
                </a:solidFill>
                <a:latin typeface="Segoe UI"/>
              </a:rPr>
              <a:t>detection latency (kernel → alert)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5584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F5D4"/>
                </a:solidFill>
                <a:latin typeface="Consolas"/>
              </a:rPr>
              <a:t>~850  </a:t>
            </a:r>
            <a:r>
              <a:rPr sz="1300">
                <a:solidFill>
                  <a:srgbClr val="B0BEC5"/>
                </a:solidFill>
                <a:latin typeface="Segoe UI"/>
              </a:rPr>
              <a:t>total lines of C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583FF"/>
                </a:solidFill>
                <a:latin typeface="Segoe UI"/>
              </a:defRPr>
            </a:pPr>
            <a:r>
              <a:t>Detection Coverage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09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583FF"/>
                </a:solidFill>
                <a:latin typeface="Segoe UI"/>
              </a:defRPr>
            </a:pPr>
            <a:r>
              <a:t>Attack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583FF"/>
                </a:solidFill>
                <a:latin typeface="Segoe UI"/>
              </a:defRPr>
            </a:pPr>
            <a:r>
              <a:t>Docker Flag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709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583FF"/>
                </a:solidFill>
                <a:latin typeface="Segoe UI"/>
              </a:defRPr>
            </a:pPr>
            <a:r>
              <a:t>Syscall Traced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7091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583FF"/>
                </a:solidFill>
                <a:latin typeface="Segoe UI"/>
              </a:defRPr>
            </a:pPr>
            <a:r>
              <a:t>Detection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4709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583FF"/>
                </a:solidFill>
                <a:latin typeface="Segoe UI"/>
              </a:defRPr>
            </a:pPr>
            <a:r>
              <a:t>Severity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83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1. Docker Socket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9834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-v docker.sock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9834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Consolas"/>
              </a:defRPr>
            </a:pPr>
            <a:r>
              <a:t>connect(AF_UNIX)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9834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Consolas"/>
              </a:defRPr>
            </a:pPr>
            <a:r>
              <a:t>docker-socket-connect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9834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F5D4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2122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2. Privileged Escape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22122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--privileged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522122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Consolas"/>
              </a:defRPr>
            </a:pPr>
            <a:r>
              <a:t>mount() + openat()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5221224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Consolas"/>
              </a:defRPr>
            </a:pPr>
            <a:r>
              <a:t>container-mount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52212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F5D4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4589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3. Cgroup Escape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4589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--privileged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545896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Consolas"/>
              </a:defRPr>
            </a:pPr>
            <a:r>
              <a:t>mount(cgroup)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545896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Consolas"/>
              </a:defRPr>
            </a:pPr>
            <a:r>
              <a:t>cgroup-mount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5458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F5D4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6967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4. Sensitive FS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56967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-v /:/hostfs:ro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6967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Consolas"/>
              </a:defRPr>
            </a:pPr>
            <a:r>
              <a:t>openat(hostfs/*)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69671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Consolas"/>
              </a:defRPr>
            </a:pPr>
            <a:r>
              <a:t>hostfs-credential-read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56967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A62B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93445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5. Namespace Escape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593445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--privileged --pid=host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593445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Consolas"/>
              </a:defRPr>
            </a:pPr>
            <a:r>
              <a:t>setns() + openat(ns/)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5934456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Consolas"/>
              </a:defRPr>
            </a:pPr>
            <a:r>
              <a:t>namespace-setns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593445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F5D4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Segoe U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